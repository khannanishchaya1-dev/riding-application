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4"/>
  </p:notesMasterIdLst>
  <p:sldIdLst>
    <p:sldId id="348" r:id="rId2"/>
    <p:sldId id="350" r:id="rId3"/>
    <p:sldId id="351" r:id="rId4"/>
    <p:sldId id="256" r:id="rId5"/>
    <p:sldId id="258" r:id="rId6"/>
    <p:sldId id="259" r:id="rId7"/>
    <p:sldId id="356" r:id="rId8"/>
    <p:sldId id="261" r:id="rId9"/>
    <p:sldId id="305" r:id="rId10"/>
    <p:sldId id="262" r:id="rId11"/>
    <p:sldId id="306" r:id="rId12"/>
    <p:sldId id="263" r:id="rId13"/>
    <p:sldId id="307" r:id="rId14"/>
    <p:sldId id="264" r:id="rId15"/>
    <p:sldId id="308" r:id="rId16"/>
    <p:sldId id="265" r:id="rId17"/>
    <p:sldId id="309" r:id="rId18"/>
    <p:sldId id="266" r:id="rId19"/>
    <p:sldId id="310" r:id="rId20"/>
    <p:sldId id="267" r:id="rId21"/>
    <p:sldId id="311" r:id="rId22"/>
    <p:sldId id="268" r:id="rId23"/>
    <p:sldId id="312" r:id="rId24"/>
    <p:sldId id="269" r:id="rId25"/>
    <p:sldId id="313" r:id="rId26"/>
    <p:sldId id="272" r:id="rId27"/>
    <p:sldId id="316" r:id="rId28"/>
    <p:sldId id="273" r:id="rId29"/>
    <p:sldId id="317" r:id="rId30"/>
    <p:sldId id="274" r:id="rId31"/>
    <p:sldId id="318" r:id="rId32"/>
    <p:sldId id="275" r:id="rId33"/>
    <p:sldId id="319" r:id="rId34"/>
    <p:sldId id="276" r:id="rId35"/>
    <p:sldId id="320" r:id="rId36"/>
    <p:sldId id="277" r:id="rId37"/>
    <p:sldId id="321" r:id="rId38"/>
    <p:sldId id="279" r:id="rId39"/>
    <p:sldId id="323" r:id="rId40"/>
    <p:sldId id="280" r:id="rId41"/>
    <p:sldId id="324" r:id="rId42"/>
    <p:sldId id="281" r:id="rId43"/>
    <p:sldId id="325" r:id="rId44"/>
    <p:sldId id="283" r:id="rId45"/>
    <p:sldId id="327" r:id="rId46"/>
    <p:sldId id="285" r:id="rId47"/>
    <p:sldId id="329" r:id="rId48"/>
    <p:sldId id="286" r:id="rId49"/>
    <p:sldId id="330" r:id="rId50"/>
    <p:sldId id="288" r:id="rId51"/>
    <p:sldId id="332" r:id="rId52"/>
    <p:sldId id="289" r:id="rId53"/>
    <p:sldId id="333" r:id="rId54"/>
    <p:sldId id="290" r:id="rId55"/>
    <p:sldId id="334" r:id="rId56"/>
    <p:sldId id="291" r:id="rId57"/>
    <p:sldId id="335" r:id="rId58"/>
    <p:sldId id="292" r:id="rId59"/>
    <p:sldId id="336" r:id="rId60"/>
    <p:sldId id="293" r:id="rId61"/>
    <p:sldId id="337" r:id="rId62"/>
    <p:sldId id="296" r:id="rId63"/>
    <p:sldId id="340" r:id="rId64"/>
    <p:sldId id="298" r:id="rId65"/>
    <p:sldId id="342" r:id="rId66"/>
    <p:sldId id="299" r:id="rId67"/>
    <p:sldId id="343" r:id="rId68"/>
    <p:sldId id="300" r:id="rId69"/>
    <p:sldId id="344" r:id="rId70"/>
    <p:sldId id="301" r:id="rId71"/>
    <p:sldId id="346" r:id="rId72"/>
    <p:sldId id="349" r:id="rId73"/>
  </p:sldIdLst>
  <p:sldSz cx="12192000" cy="6858000"/>
  <p:notesSz cx="6858000" cy="9144000"/>
  <p:embeddedFontLst>
    <p:embeddedFont>
      <p:font typeface="Arial Unicode MS" panose="020B0604020202020204" charset="-128"/>
      <p:regular r:id="rId75"/>
    </p:embeddedFont>
    <p:embeddedFont>
      <p:font typeface="Arial Black" panose="020B0A04020102020204" pitchFamily="34" charset="0"/>
      <p:regular r:id="rId76"/>
      <p:bold r:id="rId77"/>
      <p:italic r:id="rId78"/>
    </p:embeddedFont>
    <p:embeddedFont>
      <p:font typeface="Cambria Math" panose="02040503050406030204" pitchFamily="18" charset="0"/>
      <p:regular r:id="rId79"/>
    </p:embeddedFont>
    <p:embeddedFont>
      <p:font typeface="Hero New" panose="020B0604020202020204" charset="0"/>
      <p:regular r:id="rId80"/>
      <p: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4" roundtripDataSignature="AMtx7mg/+i/Ve+G1sMM/LOVZPObjtfjC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634239-DEF5-4B35-AD2C-F65D1690610E}">
  <a:tblStyle styleId="{2F634239-DEF5-4B35-AD2C-F65D169061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11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14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115" Type="http://schemas.openxmlformats.org/officeDocument/2006/relationships/presProps" Target="presProps.xml"/><Relationship Id="rId61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556328-6AB9-418C-BB89-055C1EB8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01E908E-53B8-A6FD-7A7F-ACF3740F5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CBD0BD7-6BB7-4675-C55B-0C2C9FE2A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1846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556328-6AB9-418C-BB89-055C1EB8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01E908E-53B8-A6FD-7A7F-ACF3740F5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CBD0BD7-6BB7-4675-C55B-0C2C9FE2A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388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556328-6AB9-418C-BB89-055C1EB8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01E908E-53B8-A6FD-7A7F-ACF3740F5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CBD0BD7-6BB7-4675-C55B-0C2C9FE2A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9381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b49eb08c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g22b49eb08c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b49eb08c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22b49eb08c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556328-6AB9-418C-BB89-055C1EB8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01E908E-53B8-A6FD-7A7F-ACF3740F5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CBD0BD7-6BB7-4675-C55B-0C2C9FE2A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0744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981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158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495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5174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0094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26601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98459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4301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60009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69364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7976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7532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904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96360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30436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70986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82464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52705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33582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40101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48865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63711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946546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57052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8399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31640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62223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811989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42487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39062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631894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604292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EF5C60C3-6D68-9E35-6718-D87C775F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:notes">
            <a:extLst>
              <a:ext uri="{FF2B5EF4-FFF2-40B4-BE49-F238E27FC236}">
                <a16:creationId xmlns:a16="http://schemas.microsoft.com/office/drawing/2014/main" id="{5E2F8752-5D18-2028-C5BD-447C82EA1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5:notes">
            <a:extLst>
              <a:ext uri="{FF2B5EF4-FFF2-40B4-BE49-F238E27FC236}">
                <a16:creationId xmlns:a16="http://schemas.microsoft.com/office/drawing/2014/main" id="{6BDF6661-B72C-1B49-806B-1E43B9E38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332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>
            <a:off x="4005792" y="1338792"/>
            <a:ext cx="4180416" cy="4180416"/>
          </a:xfrm>
          <a:prstGeom prst="rect">
            <a:avLst/>
          </a:prstGeom>
          <a:blipFill rotWithShape="1">
            <a:blip r:embed="rId2">
              <a:alphaModFix amt="1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7"/>
          <p:cNvSpPr/>
          <p:nvPr/>
        </p:nvSpPr>
        <p:spPr>
          <a:xfrm rot="10800000" flipH="1">
            <a:off x="5191124" y="6439955"/>
            <a:ext cx="6997050" cy="420957"/>
          </a:xfrm>
          <a:custGeom>
            <a:avLst/>
            <a:gdLst/>
            <a:ahLst/>
            <a:cxnLst/>
            <a:rect l="l" t="t" r="r" b="b"/>
            <a:pathLst>
              <a:path w="6997050" h="474402" extrusionOk="0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7"/>
          <p:cNvSpPr/>
          <p:nvPr/>
        </p:nvSpPr>
        <p:spPr>
          <a:xfrm>
            <a:off x="1" y="6439956"/>
            <a:ext cx="5490211" cy="418044"/>
          </a:xfrm>
          <a:custGeom>
            <a:avLst/>
            <a:gdLst/>
            <a:ahLst/>
            <a:cxnLst/>
            <a:rect l="l" t="t" r="r" b="b"/>
            <a:pathLst>
              <a:path w="5490211" h="473605" extrusionOk="0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7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gradFill>
            <a:gsLst>
              <a:gs pos="0">
                <a:srgbClr val="FE6400"/>
              </a:gs>
              <a:gs pos="100000">
                <a:srgbClr val="108EF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7"/>
          <p:cNvSpPr txBox="1">
            <a:spLocks noGrp="1"/>
          </p:cNvSpPr>
          <p:nvPr>
            <p:ph type="title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7"/>
          <p:cNvSpPr txBox="1"/>
          <p:nvPr/>
        </p:nvSpPr>
        <p:spPr>
          <a:xfrm>
            <a:off x="355600" y="5683515"/>
            <a:ext cx="1158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7"/>
          <p:cNvSpPr txBox="1"/>
          <p:nvPr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Aptitude Classes by Anuj Sir </a:t>
            </a:r>
            <a:endParaRPr/>
          </a:p>
        </p:txBody>
      </p:sp>
      <p:sp>
        <p:nvSpPr>
          <p:cNvPr id="23" name="Google Shape;23;p47"/>
          <p:cNvSpPr txBox="1"/>
          <p:nvPr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more tutorials Visit now www.testurprep.com</a:t>
            </a:r>
            <a:endParaRPr/>
          </a:p>
        </p:txBody>
      </p:sp>
      <p:sp>
        <p:nvSpPr>
          <p:cNvPr id="24" name="Google Shape;24;p47"/>
          <p:cNvSpPr/>
          <p:nvPr/>
        </p:nvSpPr>
        <p:spPr>
          <a:xfrm>
            <a:off x="158099" y="144860"/>
            <a:ext cx="727726" cy="727726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7"/>
          <p:cNvSpPr/>
          <p:nvPr/>
        </p:nvSpPr>
        <p:spPr>
          <a:xfrm>
            <a:off x="11311874" y="144860"/>
            <a:ext cx="727726" cy="727726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7"/>
          <p:cNvSpPr txBox="1">
            <a:spLocks noGrp="1"/>
          </p:cNvSpPr>
          <p:nvPr>
            <p:ph type="body" idx="1"/>
          </p:nvPr>
        </p:nvSpPr>
        <p:spPr>
          <a:xfrm>
            <a:off x="254000" y="1199620"/>
            <a:ext cx="11684000" cy="499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9"/>
          <p:cNvSpPr txBox="1"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9"/>
          <p:cNvSpPr txBox="1">
            <a:spLocks noGrp="1"/>
          </p:cNvSpPr>
          <p:nvPr>
            <p:ph type="body" idx="1"/>
          </p:nvPr>
        </p:nvSpPr>
        <p:spPr>
          <a:xfrm>
            <a:off x="304800" y="1185333"/>
            <a:ext cx="11582400" cy="499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9"/>
          <p:cNvSpPr txBox="1">
            <a:spLocks noGrp="1"/>
          </p:cNvSpPr>
          <p:nvPr>
            <p:ph type="dt" idx="10"/>
          </p:nvPr>
        </p:nvSpPr>
        <p:spPr>
          <a:xfrm>
            <a:off x="304800" y="638069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9"/>
          <p:cNvSpPr txBox="1">
            <a:spLocks noGrp="1"/>
          </p:cNvSpPr>
          <p:nvPr>
            <p:ph type="ftr" idx="11"/>
          </p:nvPr>
        </p:nvSpPr>
        <p:spPr>
          <a:xfrm>
            <a:off x="4038600" y="638069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9"/>
          <p:cNvSpPr txBox="1">
            <a:spLocks noGrp="1"/>
          </p:cNvSpPr>
          <p:nvPr>
            <p:ph type="sldNum" idx="12"/>
          </p:nvPr>
        </p:nvSpPr>
        <p:spPr>
          <a:xfrm>
            <a:off x="8610599" y="6356350"/>
            <a:ext cx="3276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9"/>
          <p:cNvSpPr/>
          <p:nvPr/>
        </p:nvSpPr>
        <p:spPr>
          <a:xfrm>
            <a:off x="3706812" y="981604"/>
            <a:ext cx="4879976" cy="4879976"/>
          </a:xfrm>
          <a:prstGeom prst="rect">
            <a:avLst/>
          </a:prstGeom>
          <a:blipFill rotWithShape="1">
            <a:blip r:embed="rId2">
              <a:alphaModFix amt="32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5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5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5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5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AC72D61-3E44-3E75-7DD0-AB2A353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>
            <a:extLst>
              <a:ext uri="{FF2B5EF4-FFF2-40B4-BE49-F238E27FC236}">
                <a16:creationId xmlns:a16="http://schemas.microsoft.com/office/drawing/2014/main" id="{98132DC7-3FC2-7984-36C3-7AD2748F1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9476" y="564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FF0000"/>
                </a:solidFill>
                <a:latin typeface="Arial Black" panose="020B0A04020102020204" pitchFamily="34" charset="0"/>
                <a:ea typeface="Calibri"/>
                <a:cs typeface="Arial" panose="020B0604020202020204" pitchFamily="34" charset="0"/>
                <a:sym typeface="Calibri"/>
              </a:rPr>
              <a:t>PERCENTAGE</a:t>
            </a:r>
            <a:endParaRPr sz="7200" b="1" dirty="0">
              <a:solidFill>
                <a:srgbClr val="FF0000"/>
              </a:solidFill>
              <a:latin typeface="Arial Black" panose="020B0A040201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679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AC72D61-3E44-3E75-7DD0-AB2A353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A658390-CD40-9F19-AB3D-8516A20CE6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3730263"/>
                  </p:ext>
                </p:extLst>
              </p:nvPr>
            </p:nvGraphicFramePr>
            <p:xfrm>
              <a:off x="168093" y="861747"/>
              <a:ext cx="5849250" cy="552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6488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3458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652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33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652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16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16.66%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65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  <a:ea typeface="Cambria Math" panose="02040503050406030204" pitchFamily="18" charset="0"/>
                            </a:rPr>
                            <a:t>14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14.28%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0143124"/>
                      </a:ext>
                    </a:extLst>
                  </a:tr>
                  <a:tr h="5669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  <a:ea typeface="Cambria Math" panose="02040503050406030204" pitchFamily="18" charset="0"/>
                            </a:rPr>
                            <a:t>12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604656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𝟗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11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𝟗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11.11%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6426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A658390-CD40-9F19-AB3D-8516A20CE6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3730263"/>
                  </p:ext>
                </p:extLst>
              </p:nvPr>
            </p:nvGraphicFramePr>
            <p:xfrm>
              <a:off x="168093" y="861747"/>
              <a:ext cx="5849250" cy="552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6488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3458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652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178495" r="-200938" b="-7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278495" r="-200938" b="-6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278495" r="-100312" b="-6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652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378495" r="-200938" b="-5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478495" r="-200938" b="-4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578495" r="-200938" b="-3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578495" r="-100312" b="-3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16.66%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65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678495" r="-200938" b="-2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678495" r="-100312" b="-2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14.28%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0143124"/>
                      </a:ext>
                    </a:extLst>
                  </a:tr>
                  <a:tr h="5669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778495" r="-200938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778495" r="-100312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604656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878495" r="-200938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878495" r="-100312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11.11%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6426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2">
                <a:extLst>
                  <a:ext uri="{FF2B5EF4-FFF2-40B4-BE49-F238E27FC236}">
                    <a16:creationId xmlns:a16="http://schemas.microsoft.com/office/drawing/2014/main" id="{1863EC45-DC9F-8CFA-36F1-8F82530E7E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5943959"/>
                  </p:ext>
                </p:extLst>
              </p:nvPr>
            </p:nvGraphicFramePr>
            <p:xfrm>
              <a:off x="6185437" y="861747"/>
              <a:ext cx="5849250" cy="55253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584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5308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292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𝟏𝟏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9.09%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292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308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𝟗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7.69%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292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7.14%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308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6.66%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308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6.25%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0143124"/>
                      </a:ext>
                    </a:extLst>
                  </a:tr>
                  <a:tr h="5296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𝟏𝟕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𝟏𝟓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𝟏𝟕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5.88%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604656"/>
                      </a:ext>
                    </a:extLst>
                  </a:tr>
                  <a:tr h="5308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𝟗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5.55%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6426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2">
                <a:extLst>
                  <a:ext uri="{FF2B5EF4-FFF2-40B4-BE49-F238E27FC236}">
                    <a16:creationId xmlns:a16="http://schemas.microsoft.com/office/drawing/2014/main" id="{1863EC45-DC9F-8CFA-36F1-8F82530E7E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5943959"/>
                  </p:ext>
                </p:extLst>
              </p:nvPr>
            </p:nvGraphicFramePr>
            <p:xfrm>
              <a:off x="6185437" y="861747"/>
              <a:ext cx="5849250" cy="55253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584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110000" r="-200938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210000" r="-200938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210000" r="-10031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9.09%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310000" r="-200938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310000" r="-10031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410000" r="-200938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410000" r="-100312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7.69%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510000" r="-200938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510000" r="-100312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7.14%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603297" r="-20093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603297" r="-10031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6.66%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711111" r="-200938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711111" r="-10031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6.25%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0143124"/>
                      </a:ext>
                    </a:extLst>
                  </a:tr>
                  <a:tr h="5483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811111" r="-200938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811111" r="-10031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5.88%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604656"/>
                      </a:ext>
                    </a:extLst>
                  </a:tr>
                  <a:tr h="5496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911111" r="-200938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911111" r="-10031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5.55%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6426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7784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AC72D61-3E44-3E75-7DD0-AB2A353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40277B9-0746-4235-4D85-1BBD8484FE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9366465"/>
                  </p:ext>
                </p:extLst>
              </p:nvPr>
            </p:nvGraphicFramePr>
            <p:xfrm>
              <a:off x="168092" y="866893"/>
              <a:ext cx="5849250" cy="55206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𝟏𝟗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𝟏𝟗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5.26%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𝟏𝟔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𝟐𝟏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4.74%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4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𝟔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𝟏𝟏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4.5454%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4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𝟖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4.34%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4.16%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76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66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66.67%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45186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3719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40277B9-0746-4235-4D85-1BBD8484FE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9366465"/>
                  </p:ext>
                </p:extLst>
              </p:nvPr>
            </p:nvGraphicFramePr>
            <p:xfrm>
              <a:off x="168092" y="866893"/>
              <a:ext cx="5849250" cy="55206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108889" r="-200938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108889" r="-10031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5.26%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208889" r="-200938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308889" r="-200938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308889" r="-10031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4.74%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408889" r="-200938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408889" r="-100312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4.5454%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508889" r="-200938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508889" r="-100312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4.34%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608889" r="-200938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608889" r="-100312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4.16%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701099" r="-200938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76353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810000" r="-200938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810000" r="-10031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66.67%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4518650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910000" r="-200938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3719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88A7710-11F9-51CD-40F6-747504C745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680779"/>
                  </p:ext>
                </p:extLst>
              </p:nvPr>
            </p:nvGraphicFramePr>
            <p:xfrm>
              <a:off x="6184491" y="861750"/>
              <a:ext cx="5849250" cy="55339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𝟕𝟓</m:t>
                              </m:r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𝟑𝟕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37.50%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80</a:t>
                          </a:r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1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𝟑𝟑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133.33%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76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1" dirty="0">
                              <a:latin typeface="+mn-lt"/>
                            </a:rPr>
                            <a:t>6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62.50%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45186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𝟕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87.50%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3719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88A7710-11F9-51CD-40F6-747504C745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680779"/>
                  </p:ext>
                </p:extLst>
              </p:nvPr>
            </p:nvGraphicFramePr>
            <p:xfrm>
              <a:off x="6184491" y="861750"/>
              <a:ext cx="5849250" cy="55339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108889" r="-200938" b="-8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108889" r="-100312" b="-8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208889" r="-200938" b="-7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496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305495" r="-200938" b="-598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305495" r="-100312" b="-598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37.50%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48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410000" r="-200938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80</a:t>
                          </a:r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48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510000" r="-200938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510000" r="-100312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133.33%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52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603297" r="-200938" b="-3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54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703297" r="-200938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703297" r="-100312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76353"/>
                      </a:ext>
                    </a:extLst>
                  </a:tr>
                  <a:tr h="5546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803297" r="-200938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803297" r="-10031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62.50%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4518650"/>
                      </a:ext>
                    </a:extLst>
                  </a:tr>
                  <a:tr h="548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913333" r="-200938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913333" r="-10031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87.50%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3719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236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body" idx="1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latin typeface="+mn-lt"/>
                <a:ea typeface="Calibri"/>
                <a:cs typeface="Calibri"/>
                <a:sym typeface="Calibri"/>
              </a:rPr>
              <a:t>CONVERSION OF A FRACTION / DECIMAL </a:t>
            </a:r>
            <a:r>
              <a:rPr lang="en-US" sz="2300" b="1" dirty="0">
                <a:latin typeface="+mn-lt"/>
                <a:ea typeface="Calibri"/>
                <a:cs typeface="Calibri"/>
                <a:sym typeface="Calibri"/>
              </a:rPr>
              <a:t>INTO A PERCENT</a:t>
            </a:r>
            <a:endParaRPr sz="2300" b="1"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  <a:ea typeface="Calibri"/>
                <a:cs typeface="Calibri"/>
                <a:sym typeface="Calibri"/>
              </a:rPr>
              <a:t>To convert a fraction/decimal into a percentage, simply multiply the value by 100.</a:t>
            </a:r>
            <a:endParaRPr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  <a:ea typeface="Calibri"/>
                <a:cs typeface="Calibri"/>
                <a:sym typeface="Calibri"/>
              </a:rPr>
              <a:t>For example, 1/3 can be expressed in percentage terms as  and the decimal 0.2 can be expressed as a percentage as 0.2 × 100 = 20%</a:t>
            </a:r>
            <a:endParaRPr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 b="1" dirty="0">
                <a:latin typeface="+mn-lt"/>
                <a:ea typeface="Calibri"/>
                <a:cs typeface="Calibri"/>
                <a:sym typeface="Calibri"/>
              </a:rPr>
              <a:t>CONVERSION OF A PERCENTAGE INTO A FRACTION</a:t>
            </a:r>
            <a:endParaRPr sz="2500" b="1"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  <a:ea typeface="Calibri"/>
                <a:cs typeface="Calibri"/>
                <a:sym typeface="Calibri"/>
              </a:rPr>
              <a:t>A percentage when divided by 100 is converted into a fraction/decimal. For example 20% as a fraction is</a:t>
            </a:r>
            <a:endParaRPr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  <a:ea typeface="Calibri"/>
                <a:cs typeface="Calibri"/>
                <a:sym typeface="Calibri"/>
              </a:rPr>
              <a:t>The % sign is dropped when we divide the percentage by 100. So, % =</a:t>
            </a:r>
            <a:endParaRPr dirty="0">
              <a:latin typeface="+mn-lt"/>
              <a:ea typeface="Calibri"/>
              <a:cs typeface="Calibri"/>
              <a:sym typeface="Calibri"/>
            </a:endParaRPr>
          </a:p>
          <a:p>
            <a:pPr marL="76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b49eb08c1_0_29"/>
          <p:cNvSpPr txBox="1">
            <a:spLocks noGrp="1"/>
          </p:cNvSpPr>
          <p:nvPr>
            <p:ph type="body" idx="1"/>
          </p:nvPr>
        </p:nvSpPr>
        <p:spPr>
          <a:xfrm>
            <a:off x="205102" y="1086980"/>
            <a:ext cx="11733000" cy="5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000" b="1" dirty="0">
                <a:latin typeface="Calibri"/>
                <a:ea typeface="Calibri"/>
                <a:cs typeface="Calibri"/>
                <a:sym typeface="Calibri"/>
              </a:rPr>
              <a:t>PERCENT OF A NUMBER	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To find the percent of a number, convert the percent into fraction and multiply the resultant fraction with the number.</a:t>
            </a:r>
            <a:endParaRPr sz="2600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For example, P% of a number N is =</a:t>
            </a:r>
            <a:endParaRPr sz="2600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C0C0C"/>
              </a:buClr>
              <a:buSzPct val="200000"/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2550" b="1" dirty="0">
                <a:latin typeface="Calibri"/>
                <a:ea typeface="Calibri"/>
                <a:cs typeface="Calibri"/>
                <a:sym typeface="Calibri"/>
              </a:rPr>
              <a:t>PRODUCT CONSISTENCY METHOD</a:t>
            </a:r>
            <a:endParaRPr sz="255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Consider a equation where expenditure is calculated as product of price and quantity.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Expenditure (E) = Price (P) × Quantity (Q)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For example, if price gets doubled then quantity should be half to keep the expenditure constant.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Hence, we can say if product of two quantities is constant, then change in one is compensated by another quantity.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b49eb08c1_0_55"/>
          <p:cNvSpPr txBox="1">
            <a:spLocks noGrp="1"/>
          </p:cNvSpPr>
          <p:nvPr>
            <p:ph type="body" idx="1"/>
          </p:nvPr>
        </p:nvSpPr>
        <p:spPr>
          <a:xfrm>
            <a:off x="205102" y="1086980"/>
            <a:ext cx="11733000" cy="5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g22b49eb08c1_0_55"/>
          <p:cNvGraphicFramePr/>
          <p:nvPr/>
        </p:nvGraphicFramePr>
        <p:xfrm>
          <a:off x="689500" y="1523175"/>
          <a:ext cx="10525600" cy="3886200"/>
        </p:xfrm>
        <a:graphic>
          <a:graphicData uri="http://schemas.openxmlformats.org/drawingml/2006/table">
            <a:tbl>
              <a:tblPr>
                <a:noFill/>
                <a:tableStyleId>{2F634239-DEF5-4B35-AD2C-F65D1690610E}</a:tableStyleId>
              </a:tblPr>
              <a:tblGrid>
                <a:gridCol w="263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Price</a:t>
                      </a:r>
                      <a:endParaRPr sz="24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Quantity</a:t>
                      </a:r>
                      <a:endParaRPr sz="24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Expenditure</a:t>
                      </a:r>
                      <a:endParaRPr sz="24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/>
                        <a:t>Inital</a:t>
                      </a:r>
                      <a:endParaRPr sz="24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      4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5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4x5=20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/>
                        <a:t>Final</a:t>
                      </a:r>
                      <a:endParaRPr sz="24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  </a:t>
                      </a: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      5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 4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5x4=20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AC72D61-3E44-3E75-7DD0-AB2A353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D58A7-4A6F-713A-23F5-2DC6F313CABD}"/>
              </a:ext>
            </a:extLst>
          </p:cNvPr>
          <p:cNvSpPr txBox="1"/>
          <p:nvPr/>
        </p:nvSpPr>
        <p:spPr>
          <a:xfrm>
            <a:off x="610666" y="609801"/>
            <a:ext cx="7745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Hero New" panose="02000500000000000000" pitchFamily="50" charset="0"/>
              </a:rPr>
              <a:t>Q:  3 is what % of 4?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EF1EC-18FB-685F-7500-46346480679C}"/>
              </a:ext>
            </a:extLst>
          </p:cNvPr>
          <p:cNvSpPr txBox="1"/>
          <p:nvPr/>
        </p:nvSpPr>
        <p:spPr>
          <a:xfrm>
            <a:off x="610666" y="1999370"/>
            <a:ext cx="7745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Hero New" panose="02000500000000000000" pitchFamily="50" charset="0"/>
              </a:rPr>
              <a:t>Q:  7.5 is what % of 5?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E78862-9A72-51FB-A783-5BAA1030C990}"/>
                  </a:ext>
                </a:extLst>
              </p:cNvPr>
              <p:cNvSpPr txBox="1"/>
              <p:nvPr/>
            </p:nvSpPr>
            <p:spPr>
              <a:xfrm>
                <a:off x="610666" y="4778508"/>
                <a:ext cx="7740853" cy="536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Hero New" panose="02000500000000000000" pitchFamily="50" charset="0"/>
                  </a:rPr>
                  <a:t>Q: 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Hero New" panose="02000500000000000000" pitchFamily="50" charset="0"/>
                  </a:rPr>
                  <a:t> is how much % more than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Hero New" panose="02000500000000000000" pitchFamily="50" charset="0"/>
                  </a:rPr>
                  <a:t> ?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E78862-9A72-51FB-A783-5BAA1030C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66" y="4778508"/>
                <a:ext cx="7740853" cy="536942"/>
              </a:xfrm>
              <a:prstGeom prst="rect">
                <a:avLst/>
              </a:prstGeom>
              <a:blipFill>
                <a:blip r:embed="rId3"/>
                <a:stretch>
                  <a:fillRect l="-787" b="-102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EFFC9E9-AF56-AC97-49B8-A49183518B78}"/>
              </a:ext>
            </a:extLst>
          </p:cNvPr>
          <p:cNvSpPr txBox="1"/>
          <p:nvPr/>
        </p:nvSpPr>
        <p:spPr>
          <a:xfrm>
            <a:off x="610666" y="3388939"/>
            <a:ext cx="7708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Hero New" panose="02000500000000000000" pitchFamily="50" charset="0"/>
              </a:rPr>
              <a:t>Q:  26 is how much % less than 30? </a:t>
            </a:r>
          </a:p>
        </p:txBody>
      </p:sp>
    </p:spTree>
    <p:extLst>
      <p:ext uri="{BB962C8B-B14F-4D97-AF65-F5344CB8AC3E}">
        <p14:creationId xmlns:p14="http://schemas.microsoft.com/office/powerpoint/2010/main" val="313866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indent="-228600"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12(1/2) is what per cent of 16(2/3) ?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75%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>
            <a:spLocks noGrp="1"/>
          </p:cNvSpPr>
          <p:nvPr>
            <p:ph type="body" idx="1"/>
          </p:nvPr>
        </p:nvSpPr>
        <p:spPr>
          <a:xfrm>
            <a:off x="204952" y="824459"/>
            <a:ext cx="11733048" cy="559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indent="-228600"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12(1/2) is what per cent of 16(2/3) ?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75%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84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price of one kg. of rice is increased by 25%, the increase is 12 Rs . Find the new price of rice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60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72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36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body" idx="1"/>
          </p:nvPr>
        </p:nvSpPr>
        <p:spPr>
          <a:xfrm>
            <a:off x="115011" y="704538"/>
            <a:ext cx="11733048" cy="539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price of one kg. of rice is increased by 25%, the increase is 12 Rs . Find the new price of rice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60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72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36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770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Due to fall in manpower, the production in a factory decreases by 20%. By what per cent should the working hour be increased to restore the original production?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24%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>
            <a:spLocks noGrp="1"/>
          </p:cNvSpPr>
          <p:nvPr>
            <p:ph type="body" idx="1"/>
          </p:nvPr>
        </p:nvSpPr>
        <p:spPr>
          <a:xfrm>
            <a:off x="204952" y="659567"/>
            <a:ext cx="11733048" cy="575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Due to fall in manpower, the production in a factory decreases by 20%. By what per cent should the working hour be increased to restore the original production?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24%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25%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926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duty on imported sugar be increased by 25 percent. By how much percent must a man reduce his consumption of that article so as not to increase his expenditure?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duty on imported sugar be increased by 25 percent. By how much percent must a man reduce his consumption of that article so as not to increase his expenditure?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20%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250858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price of sugar decrease by 20%, by how much per cent must a householder increase its consumption, so as not to decrease expenditure in this item?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price of sugar decrease by 20%, by how much per cent must a householder increase its consumption, so as not to decrease expenditure in this item?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25%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216034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A’s salary is 20% more than that of B, then how much per cent is B’s salary less than that of A?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16(2/3)% 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40%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A’s salary is 20% more than that of B, then how much per cent is B’s salary less than that of A?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16(2/3)%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40%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074973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shopkeeper marks the prices of his goods at 26% higher than the original price. Due to the increase in demand, he again increases by 26%. What profit (in percent) did he get?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52%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58.76%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shopkeeper marks the prices of his goods at 26% higher than the original price. Due to the increase in demand, he again increases by 26%. What profit (in percent) did he get?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52%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58.76%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147246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tax on commodity is decrease by 15% and its consumption increases by 10%. Find the effect on revenue.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decrease of 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decrease of 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increase of 6.5%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decrease of 6.5%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204952" y="659567"/>
            <a:ext cx="11733048" cy="575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tax on commodity is decrease by 15% and its consumption increases by 10%. Find the effect on revenue.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decrease of 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decrease of 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increase of 6.5%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decrease of 6.5%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99491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measuring the sides of a rectangle, one side is taken 10% in excess and the other 20% in deficit. Find the error per cent in area calculated from the measurement.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8% excess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8% deficit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12% excess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12% deficit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measuring the sides of a rectangle, one side is taken 10% in excess and the other 20% in deficit. Find the error per cent in area calculated from the measurement.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8% excess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8% deficit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12% excess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12% deficit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148904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Find a single discount equivalent to a discount series of 10%, 15% and    20%.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38.8%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43.8%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39.8%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Find a single discount equivalent to a discount series of 10%, 15% and 20%.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38.8%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43.8%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39.8%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7568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11.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price of wheat is decreased by 25% and its consumption increases by 25%. Find the new expenditure as a ratio of initial expenditure.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 : 4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 : 4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16 : 15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15 : 16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body" idx="1"/>
          </p:nvPr>
        </p:nvSpPr>
        <p:spPr>
          <a:xfrm>
            <a:off x="204952" y="659567"/>
            <a:ext cx="11733048" cy="575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11.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price of wheat is decreased by 25% and its consumption increases by 25%. Find the new expenditure as a ratio of initial expenditure.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 : 4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 : 4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16 : 15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15 : 16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775174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 recent survey 40% houses contained two or more people. Of those houses containing only one person 25% were having only a male. What is the percentage of all houses which contain exactly one female and no males?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r>
              <a:rPr lang="en-US" b="1" dirty="0"/>
              <a:t>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 recent survey 40% houses contained two or more people. Of those houses containing only one person 25% were having only a male. What is the percentage of all houses which contain exactly one female and no males?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45 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1841357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8000. If the males increase by 9% and the females by 16%, the population will be 9000. Find the number of females in the town. 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4500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8000. If the males increase by 9% and the females by 16%, the population will be 9000. Find the number of females in the town. 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4500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4000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877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student has secured 15% marks to get through. If he gets 80 marks and fails by 70 marks, find the maximum marks set for the examination.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1000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900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student has  secured 15% marks to get through. If he gets 80 marks and fails by 70 marks, find the maximum marks set for the examination.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1000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900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145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candidate scores 35% and fails by 40 marks, while another candidate who scores 60% marks, gets 35 marks more than the minimum required marks to pass the examination. Find the maximum marks for the examination.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350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candidate scores 35% and fails by 40 marks, while another candidate who scores 60% marks, gets 35 marks more than the minimum required marks to pass the examination. Find the maximum marks for the examination.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300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350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699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 certain year, the population of a certain town was 9000. If the next year the population of males increases by 5% and that of the females by 8% and the total population increases to 9600, then what was the ratio of population of males and females in that given year?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 : 5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 : 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 : 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Data inadequate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 certain year, the population of a certain town was 9000. If the next year the population of males increases by 5% and that of the females by 8% and the total population increases to 9600, then what was the ratio of population of males and females in that given year?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4 : 5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 : 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 : 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Data inadequate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r>
              <a:rPr lang="en-US" b="1" dirty="0"/>
              <a:t>  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864979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>
            <a:spLocks noGrp="1"/>
          </p:cNvSpPr>
          <p:nvPr>
            <p:ph type="body" idx="1"/>
          </p:nvPr>
        </p:nvSpPr>
        <p:spPr>
          <a:xfrm>
            <a:off x="204952" y="764499"/>
            <a:ext cx="11733048" cy="5652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64000. It increases by 10% during the first year. During the second year, it decreases by 25% and increased by 5% during the third year. What is the population after 3 years? 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654400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56440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55450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55440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>
            <a:spLocks noGrp="1"/>
          </p:cNvSpPr>
          <p:nvPr>
            <p:ph type="body" idx="1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64000. It increases by 10% during the first year. During the second year, it decreases by 25% and increased by 5% during the third year. What is the population after 3 years?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654400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56440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55450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55440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203540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>
            <a:spLocks noGrp="1"/>
          </p:cNvSpPr>
          <p:nvPr>
            <p:ph type="body" idx="1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examination, 10% of the students failed in Math, 20% failed in English and 5% failed in both. Find the percentage of students who passed in both the subjects.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75%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70%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>
            <a:spLocks noGrp="1"/>
          </p:cNvSpPr>
          <p:nvPr>
            <p:ph type="body" idx="1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examination, 10% of the students failed in Math, 20% failed in English and 5% failed in both. Find the percentage of students who passed in both the subjects.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75%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70%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037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man spends 60% of his income. His income increases by 15% and his expenditure also increases by 5%. Find the percentage increase in his savings.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man spends 60% of his income. His income increases by 15% and his expenditure also increases by 5%. Find the percentage increase in his savings.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30%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2467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solution of salt and water contains 5% salt by weight. If 20 kg water evaporate, and the solution now contains 15% of salt. Find the original quantity of solution.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15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30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18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24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solution of salt and water contains 5% salt by weight. If 20 kg water evaporate, and the solution now contains 15% of salt. Find the original quantity of solution.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15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30 kg.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18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24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327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What quantity of water should be added to reduce 16 liters. of 25% acidic liquid to 20% acidic liquid?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 liters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 liters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12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What quantity of water should be added to reduce 16 liters of 25% acidic liquid to 20% acidic liquid?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4 liters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12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447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What quantity of water should be taken out to concentrate 21 liters of 25% acidic liquid to 35% acidic liquid.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8.4 liters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6.4 liters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 liters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What quantity of water should be taken out to concentrate 21 liters of 25% acidic liquid to 35% acidic liquid.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6 liters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8.4 liters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6.4 liters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 liters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r>
              <a:rPr lang="en-US" b="1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2395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examination the percentage of students qualified to the number of students appeared from school ‘A’ is 80%. In school ‘B’ the number of students appeared is 25% more than the students appeared from school ‘A’ and the number of students qualified from school ‘B’ is 40% more than the students qualified from school ‘A’. What is the percentage of students qualified to the number of students appeared from school ‘B’?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90%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89.5%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89.6%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>
            <a:spLocks noGrp="1"/>
          </p:cNvSpPr>
          <p:nvPr>
            <p:ph type="body" idx="1"/>
          </p:nvPr>
        </p:nvSpPr>
        <p:spPr>
          <a:xfrm>
            <a:off x="204952" y="779489"/>
            <a:ext cx="11733048" cy="563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examination the percentage of students qualified to the number of students appeared from school ‘A’ is 80%. In school ‘B’ the number of students appeared is 25% more than the students appeared from school ‘A’ and the number of students qualified from school ‘B’ is 40% more than the students qualified from school ‘A’. What is the percentage of students qualified to the number of students appeared from school ‘B’?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90%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89.5%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89.6%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265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Rice is now being sold at Rs. 20 per kg. During last month, its cost was 18 per kg. Find by how much percent a family should reduce its consumption, to keep the expenditure same.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Rice is now being sold at Rs. 20 per kg. During last month, its cost was 18 per kg. Find by how much percent a family should reduce its consumption, to keep the expenditure same.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10%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1865592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reduction of 2 Rs per kg enables a man to purchase 2 kg more tea in 8 Rs. Find the original price of tea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 per kg.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6 per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 per kg.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reduction of 2 Rs per kg enables a man to purchase 2 kg more tea in 8 Rs. Find the original price of tea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4 per kg.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6 per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 per kg.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106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reduction of 20 percent in the price of tea would enable a purchaser to obtain 4 kg. more for 100, what is the reduced price, and original price?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6.25, 5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5, 6.25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6, 5.25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5.25, 6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>
            <a:spLocks noGrp="1"/>
          </p:cNvSpPr>
          <p:nvPr>
            <p:ph type="body" idx="1"/>
          </p:nvPr>
        </p:nvSpPr>
        <p:spPr>
          <a:xfrm>
            <a:off x="204952" y="764499"/>
            <a:ext cx="11733048" cy="5652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reduction of 20 percent in the price of tea would enable a purchaser to obtain 4 kg. more for 100, what is the reduced price, and original price?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6.25, 5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5, 6.25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6, 5.25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5.25, 6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25768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15625. It increases 8 per cent annually. What will it be in 3 years?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16983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18693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19683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19638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15625. It increases 8 per cent annually. What will it be in 3 years?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16983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18693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19683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19638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834501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numbers are respectively 26% and 5% more than a third. What percentage is the first of the second?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120%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100%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125%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r>
              <a:rPr lang="en-US" b="1" dirty="0"/>
              <a:t>  </a:t>
            </a:r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>
            <a:spLocks noGrp="1"/>
          </p:cNvSpPr>
          <p:nvPr>
            <p:ph type="body" idx="1"/>
          </p:nvPr>
        </p:nvSpPr>
        <p:spPr>
          <a:xfrm>
            <a:off x="204952" y="644577"/>
            <a:ext cx="11733048" cy="5771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numbers are respectively 26% and 5% more than a third. What percentage is the first of the second?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120%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100%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125%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r>
              <a:rPr lang="en-US" b="1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6844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candidate participated in an election. 10% voter did not cast their votes, and 10% votes were declared invalid. A candidate got 60% of total votes and won the election by 3900 votes. Find the total number of voters in voter list.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8100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10000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19500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9000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29</a:t>
            </a:r>
            <a:r>
              <a:rPr lang="en-US" b="1" dirty="0"/>
              <a:t>. Two candidate participated in an election. 10% voter did not cast their votes, and 10% votes were declared invalid. A candidate got 60% of total votes and won the election by 3900 votes. Find the total number of voters in voter list.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8100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(b) 10000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tx1"/>
                </a:solidFill>
              </a:rPr>
              <a:t>(c) 19500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9000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57300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candidates participated in an election. 20% voters did not cast their votes, and 2000 votes were declared invalid. Winner candidate got 60% of valid votes and got elected by 1200 number of votes. Find the total number of votes in voter list.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8750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7750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8000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10000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candidates participated in an election. 20% voters did not cast their votes, and 2000 votes were declared invalid. Winner candidate got 60% of valid votes and got elected by 1200 number of votes. Find the total number of votes in voter list.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8750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7750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8000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(d) 10000</a:t>
            </a:r>
            <a:endParaRPr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8725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2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election two candidates participated A and B. A secured 30% of the total votes and lost the election by 500 votes. Find the total number of votes casted.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1100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1250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1200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2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election two candidates participated A and B. A secured 30% of the total votes and lost the election by 500 votes. Find the total number of votes casted.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1100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 1250</a:t>
            </a:r>
            <a:endParaRPr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1200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8783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company give 12% commission to his salesman on total sales and 1% bonus on the sales over ₹ 15000. If the salesman deposit ₹7650 after deducting his commission from total sales. Find total sales.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72000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70000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48000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60000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>
            <a:spLocks noGrp="1"/>
          </p:cNvSpPr>
          <p:nvPr>
            <p:ph type="body" idx="1"/>
          </p:nvPr>
        </p:nvSpPr>
        <p:spPr>
          <a:xfrm>
            <a:off x="204952" y="659567"/>
            <a:ext cx="11733048" cy="575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company give 12% commission to his salesman on total sales and 1% bonus on the sales over ₹ 15000. If the salesman deposit ₹52,350 after deducting his commission from total sales. Find total sales.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72000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70000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48000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(d) 60000</a:t>
            </a:r>
            <a:endParaRPr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9989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2C7A5B6F-206A-BCAA-C2CB-DE331F6C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">
            <a:extLst>
              <a:ext uri="{FF2B5EF4-FFF2-40B4-BE49-F238E27FC236}">
                <a16:creationId xmlns:a16="http://schemas.microsoft.com/office/drawing/2014/main" id="{7E2B8B30-1C43-B678-00E0-975307A9E5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9476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lang="en-US" sz="88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lang="en-US" sz="88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sz="8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THANK YOU</a:t>
            </a:r>
            <a:endParaRPr sz="88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84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4795</Words>
  <Application>Microsoft Office PowerPoint</Application>
  <PresentationFormat>Widescreen</PresentationFormat>
  <Paragraphs>616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9" baseType="lpstr">
      <vt:lpstr>Calibri</vt:lpstr>
      <vt:lpstr>Cambria Math</vt:lpstr>
      <vt:lpstr>Hero New</vt:lpstr>
      <vt:lpstr>Arial Unicode MS</vt:lpstr>
      <vt:lpstr>Arial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APTITUDE</dc:title>
  <dc:creator>anuj gupta</dc:creator>
  <cp:lastModifiedBy>jai prakash</cp:lastModifiedBy>
  <cp:revision>51</cp:revision>
  <dcterms:created xsi:type="dcterms:W3CDTF">2020-02-23T06:37:57Z</dcterms:created>
  <dcterms:modified xsi:type="dcterms:W3CDTF">2025-08-21T12:32:07Z</dcterms:modified>
</cp:coreProperties>
</file>